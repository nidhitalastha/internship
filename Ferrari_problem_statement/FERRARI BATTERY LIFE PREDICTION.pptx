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CB74A1-E537-48D3-8076-901B2A1CEDEE}">
  <a:tblStyle styleId="{FBCB74A1-E537-48D3-8076-901B2A1CEDE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962f60a78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962f60a78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962f60a780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962f60a780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962f60a780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962f60a780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962f60a780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962f60a780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94348497f7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94348497f7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962f60a78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962f60a78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1132650" y="3623350"/>
            <a:ext cx="68787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800">
                <a:solidFill>
                  <a:schemeClr val="lt1"/>
                </a:solidFill>
                <a:latin typeface="Times New Roman"/>
                <a:ea typeface="Times New Roman"/>
                <a:cs typeface="Times New Roman"/>
                <a:sym typeface="Times New Roman"/>
              </a:rPr>
              <a:t>FERRARI BATTERY LIFE PREDICTION</a:t>
            </a:r>
            <a:endParaRPr b="1" sz="2800">
              <a:solidFill>
                <a:schemeClr val="lt1"/>
              </a:solidFill>
              <a:latin typeface="Times New Roman"/>
              <a:ea typeface="Times New Roman"/>
              <a:cs typeface="Times New Roman"/>
              <a:sym typeface="Times New Roman"/>
            </a:endParaRPr>
          </a:p>
        </p:txBody>
      </p:sp>
      <p:pic>
        <p:nvPicPr>
          <p:cNvPr id="55" name="Google Shape;55;p13"/>
          <p:cNvPicPr preferRelativeResize="0"/>
          <p:nvPr/>
        </p:nvPicPr>
        <p:blipFill>
          <a:blip r:embed="rId3">
            <a:alphaModFix/>
          </a:blip>
          <a:stretch>
            <a:fillRect/>
          </a:stretch>
        </p:blipFill>
        <p:spPr>
          <a:xfrm>
            <a:off x="3251600" y="1581450"/>
            <a:ext cx="2640799" cy="19805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638550" y="1405500"/>
            <a:ext cx="7866900" cy="2174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1800">
                <a:solidFill>
                  <a:srgbClr val="FFFFFF"/>
                </a:solidFill>
                <a:latin typeface="Times New Roman"/>
                <a:ea typeface="Times New Roman"/>
                <a:cs typeface="Times New Roman"/>
                <a:sym typeface="Times New Roman"/>
              </a:rPr>
              <a:t>	The client “Ferrari” would like to predict the life of battery installed in the hybrid car so that it can send message to the customers beforehand  to avoid critical hours support and eventually can enhance customers’ satisfaction and brand valuation. Hybrid cars are type of cars that run in battery and fuel. The client would like to know how they can leverage all the data that are stored in the advanced sensors embedded in the car to predict accurately the remaining life of the battery.</a:t>
            </a:r>
            <a:endParaRPr sz="1800">
              <a:solidFill>
                <a:srgbClr val="FFFFFF"/>
              </a:solidFill>
              <a:latin typeface="Times New Roman"/>
              <a:ea typeface="Times New Roman"/>
              <a:cs typeface="Times New Roman"/>
              <a:sym typeface="Times New Roman"/>
            </a:endParaRPr>
          </a:p>
        </p:txBody>
      </p:sp>
      <p:sp>
        <p:nvSpPr>
          <p:cNvPr id="61" name="Google Shape;61;p14"/>
          <p:cNvSpPr txBox="1"/>
          <p:nvPr/>
        </p:nvSpPr>
        <p:spPr>
          <a:xfrm>
            <a:off x="638550" y="624225"/>
            <a:ext cx="2724000" cy="47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Times New Roman"/>
                <a:ea typeface="Times New Roman"/>
                <a:cs typeface="Times New Roman"/>
                <a:sym typeface="Times New Roman"/>
              </a:rPr>
              <a:t>Problem Definition :</a:t>
            </a:r>
            <a:endParaRPr sz="2400">
              <a:solidFill>
                <a:srgbClr val="FFFFFF"/>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65" name="Shape 65"/>
        <p:cNvGrpSpPr/>
        <p:nvPr/>
      </p:nvGrpSpPr>
      <p:grpSpPr>
        <a:xfrm>
          <a:off x="0" y="0"/>
          <a:ext cx="0" cy="0"/>
          <a:chOff x="0" y="0"/>
          <a:chExt cx="0" cy="0"/>
        </a:xfrm>
      </p:grpSpPr>
      <p:sp>
        <p:nvSpPr>
          <p:cNvPr id="66" name="Google Shape;66;p15"/>
          <p:cNvSpPr txBox="1"/>
          <p:nvPr/>
        </p:nvSpPr>
        <p:spPr>
          <a:xfrm>
            <a:off x="333450" y="91275"/>
            <a:ext cx="8477100" cy="62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Times New Roman"/>
                <a:ea typeface="Times New Roman"/>
                <a:cs typeface="Times New Roman"/>
                <a:sym typeface="Times New Roman"/>
              </a:rPr>
              <a:t>Assessing the problem:</a:t>
            </a:r>
            <a:endParaRPr b="1" sz="2400">
              <a:solidFill>
                <a:schemeClr val="lt1"/>
              </a:solidFill>
              <a:latin typeface="Times New Roman"/>
              <a:ea typeface="Times New Roman"/>
              <a:cs typeface="Times New Roman"/>
              <a:sym typeface="Times New Roman"/>
            </a:endParaRPr>
          </a:p>
        </p:txBody>
      </p:sp>
      <p:grpSp>
        <p:nvGrpSpPr>
          <p:cNvPr id="67" name="Google Shape;67;p15"/>
          <p:cNvGrpSpPr/>
          <p:nvPr/>
        </p:nvGrpSpPr>
        <p:grpSpPr>
          <a:xfrm>
            <a:off x="377625" y="924525"/>
            <a:ext cx="8432925" cy="3854375"/>
            <a:chOff x="377625" y="924525"/>
            <a:chExt cx="8432925" cy="3854375"/>
          </a:xfrm>
        </p:grpSpPr>
        <p:sp>
          <p:nvSpPr>
            <p:cNvPr id="68" name="Google Shape;68;p15"/>
            <p:cNvSpPr/>
            <p:nvPr/>
          </p:nvSpPr>
          <p:spPr>
            <a:xfrm>
              <a:off x="377625" y="2116050"/>
              <a:ext cx="2708400" cy="231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Current Situation:</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The customers are not prompted (or) informed about the status or heath of the battery.</a:t>
              </a:r>
              <a:endParaRPr>
                <a:latin typeface="Times New Roman"/>
                <a:ea typeface="Times New Roman"/>
                <a:cs typeface="Times New Roman"/>
                <a:sym typeface="Times New Roman"/>
              </a:endParaRPr>
            </a:p>
          </p:txBody>
        </p:sp>
        <p:sp>
          <p:nvSpPr>
            <p:cNvPr id="69" name="Google Shape;69;p15"/>
            <p:cNvSpPr/>
            <p:nvPr/>
          </p:nvSpPr>
          <p:spPr>
            <a:xfrm>
              <a:off x="3239875" y="924525"/>
              <a:ext cx="2708400" cy="231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Complication:</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Client does not know how the data stored in the advanced sensors can be analysed to predict the battery life and inform the customer before ending up in a critical situation.</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latin typeface="Times New Roman"/>
                <a:ea typeface="Times New Roman"/>
                <a:cs typeface="Times New Roman"/>
                <a:sym typeface="Times New Roman"/>
              </a:endParaRPr>
            </a:p>
          </p:txBody>
        </p:sp>
        <p:sp>
          <p:nvSpPr>
            <p:cNvPr id="70" name="Google Shape;70;p15"/>
            <p:cNvSpPr/>
            <p:nvPr/>
          </p:nvSpPr>
          <p:spPr>
            <a:xfrm>
              <a:off x="6102150" y="2116050"/>
              <a:ext cx="2708400" cy="2317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latin typeface="Times New Roman"/>
                  <a:ea typeface="Times New Roman"/>
                  <a:cs typeface="Times New Roman"/>
                  <a:sym typeface="Times New Roman"/>
                </a:rPr>
                <a:t>Desired State:</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	The battery life has to be predicted using the data obtained by the advanced embedded sensors in the hybrid car and the customer has to be prompted about accurate remaining battery life before he/she ends up in a critical situation.</a:t>
              </a:r>
              <a:endParaRPr>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71" name="Google Shape;71;p15"/>
            <p:cNvSpPr/>
            <p:nvPr/>
          </p:nvSpPr>
          <p:spPr>
            <a:xfrm>
              <a:off x="3489775" y="3750200"/>
              <a:ext cx="2243700" cy="10287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
                  <a:latin typeface="Times New Roman"/>
                  <a:ea typeface="Times New Roman"/>
                  <a:cs typeface="Times New Roman"/>
                  <a:sym typeface="Times New Roman"/>
                </a:rPr>
                <a:t>Key Question:</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How can the embedded sensors data be analysed?</a:t>
              </a:r>
              <a:endParaRPr>
                <a:latin typeface="Times New Roman"/>
                <a:ea typeface="Times New Roman"/>
                <a:cs typeface="Times New Roman"/>
                <a:sym typeface="Times New Roman"/>
              </a:endParaRPr>
            </a:p>
            <a:p>
              <a:pPr indent="0" lvl="0" marL="0" rtl="0" algn="l">
                <a:spcBef>
                  <a:spcPts val="0"/>
                </a:spcBef>
                <a:spcAft>
                  <a:spcPts val="0"/>
                </a:spcAft>
                <a:buNone/>
              </a:pPr>
              <a:r>
                <a:rPr lang="en">
                  <a:latin typeface="Times New Roman"/>
                  <a:ea typeface="Times New Roman"/>
                  <a:cs typeface="Times New Roman"/>
                  <a:sym typeface="Times New Roman"/>
                </a:rPr>
                <a:t>How will the customer be informed?</a:t>
              </a:r>
              <a:endParaRPr>
                <a:latin typeface="Times New Roman"/>
                <a:ea typeface="Times New Roman"/>
                <a:cs typeface="Times New Roman"/>
                <a:sym typeface="Times New Roman"/>
              </a:endParaRPr>
            </a:p>
          </p:txBody>
        </p:sp>
        <p:cxnSp>
          <p:nvCxnSpPr>
            <p:cNvPr id="72" name="Google Shape;72;p15"/>
            <p:cNvCxnSpPr>
              <a:endCxn id="70" idx="1"/>
            </p:cNvCxnSpPr>
            <p:nvPr/>
          </p:nvCxnSpPr>
          <p:spPr>
            <a:xfrm flipH="1" rot="10800000">
              <a:off x="3112050" y="3274950"/>
              <a:ext cx="2990100" cy="19500"/>
            </a:xfrm>
            <a:prstGeom prst="straightConnector1">
              <a:avLst/>
            </a:prstGeom>
            <a:noFill/>
            <a:ln cap="flat" cmpd="sng" w="9525">
              <a:solidFill>
                <a:schemeClr val="dk2"/>
              </a:solidFill>
              <a:prstDash val="solid"/>
              <a:round/>
              <a:headEnd len="med" w="med" type="none"/>
              <a:tailEnd len="med" w="med" type="triangl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155850" y="227450"/>
            <a:ext cx="8832300" cy="61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Times New Roman"/>
                <a:ea typeface="Times New Roman"/>
                <a:cs typeface="Times New Roman"/>
                <a:sym typeface="Times New Roman"/>
              </a:rPr>
              <a:t>Factors affecting the battery life:				</a:t>
            </a:r>
            <a:endParaRPr b="1" sz="2400">
              <a:solidFill>
                <a:schemeClr val="lt1"/>
              </a:solidFill>
              <a:latin typeface="Times New Roman"/>
              <a:ea typeface="Times New Roman"/>
              <a:cs typeface="Times New Roman"/>
              <a:sym typeface="Times New Roman"/>
            </a:endParaRPr>
          </a:p>
        </p:txBody>
      </p:sp>
      <p:pic>
        <p:nvPicPr>
          <p:cNvPr id="78" name="Google Shape;78;p16"/>
          <p:cNvPicPr preferRelativeResize="0"/>
          <p:nvPr/>
        </p:nvPicPr>
        <p:blipFill>
          <a:blip r:embed="rId3">
            <a:alphaModFix/>
          </a:blip>
          <a:stretch>
            <a:fillRect/>
          </a:stretch>
        </p:blipFill>
        <p:spPr>
          <a:xfrm>
            <a:off x="155850" y="1099338"/>
            <a:ext cx="8832298" cy="2944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451675" y="6740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Times New Roman"/>
                <a:ea typeface="Times New Roman"/>
                <a:cs typeface="Times New Roman"/>
                <a:sym typeface="Times New Roman"/>
              </a:rPr>
              <a:t>Analysing the data obtained from the sensors:</a:t>
            </a:r>
            <a:endParaRPr b="1" sz="2400">
              <a:solidFill>
                <a:schemeClr val="lt1"/>
              </a:solidFill>
              <a:latin typeface="Times New Roman"/>
              <a:ea typeface="Times New Roman"/>
              <a:cs typeface="Times New Roman"/>
              <a:sym typeface="Times New Roman"/>
            </a:endParaRPr>
          </a:p>
        </p:txBody>
      </p:sp>
      <p:sp>
        <p:nvSpPr>
          <p:cNvPr id="84" name="Google Shape;84;p17"/>
          <p:cNvSpPr txBox="1"/>
          <p:nvPr>
            <p:ph idx="1" type="body"/>
          </p:nvPr>
        </p:nvSpPr>
        <p:spPr>
          <a:xfrm>
            <a:off x="311700" y="640100"/>
            <a:ext cx="8520600" cy="43386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 sz="2200">
                <a:solidFill>
                  <a:srgbClr val="000000"/>
                </a:solidFill>
                <a:latin typeface="Times New Roman"/>
                <a:ea typeface="Times New Roman"/>
                <a:cs typeface="Times New Roman"/>
                <a:sym typeface="Times New Roman"/>
              </a:rPr>
              <a:t>	</a:t>
            </a:r>
            <a:endParaRPr sz="2200">
              <a:solidFill>
                <a:srgbClr val="000000"/>
              </a:solidFill>
              <a:latin typeface="Times New Roman"/>
              <a:ea typeface="Times New Roman"/>
              <a:cs typeface="Times New Roman"/>
              <a:sym typeface="Times New Roman"/>
            </a:endParaRPr>
          </a:p>
          <a:p>
            <a:pPr indent="0" lvl="0" marL="0" rtl="0" algn="just">
              <a:spcBef>
                <a:spcPts val="1600"/>
              </a:spcBef>
              <a:spcAft>
                <a:spcPts val="1600"/>
              </a:spcAft>
              <a:buNone/>
            </a:pPr>
            <a:r>
              <a:t/>
            </a:r>
            <a:endParaRPr sz="2200">
              <a:solidFill>
                <a:srgbClr val="000000"/>
              </a:solidFill>
              <a:latin typeface="Times New Roman"/>
              <a:ea typeface="Times New Roman"/>
              <a:cs typeface="Times New Roman"/>
              <a:sym typeface="Times New Roman"/>
            </a:endParaRPr>
          </a:p>
        </p:txBody>
      </p:sp>
      <p:graphicFrame>
        <p:nvGraphicFramePr>
          <p:cNvPr id="85" name="Google Shape;85;p17"/>
          <p:cNvGraphicFramePr/>
          <p:nvPr/>
        </p:nvGraphicFramePr>
        <p:xfrm>
          <a:off x="451675" y="828100"/>
          <a:ext cx="3000000" cy="3000000"/>
        </p:xfrm>
        <a:graphic>
          <a:graphicData uri="http://schemas.openxmlformats.org/drawingml/2006/table">
            <a:tbl>
              <a:tblPr>
                <a:noFill/>
                <a:tableStyleId>{FBCB74A1-E537-48D3-8076-901B2A1CEDEE}</a:tableStyleId>
              </a:tblPr>
              <a:tblGrid>
                <a:gridCol w="2526425"/>
                <a:gridCol w="5714225"/>
              </a:tblGrid>
              <a:tr h="1022025">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Voltage usage and current drained</a:t>
                      </a:r>
                      <a:endParaRPr sz="2200">
                        <a:solidFill>
                          <a:schemeClr val="lt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The voltage usage and current drained can be obtained using an appropriate algorithm on the data obtained from the embedded sensors.</a:t>
                      </a:r>
                      <a:endParaRPr sz="2200">
                        <a:solidFill>
                          <a:schemeClr val="lt1"/>
                        </a:solidFill>
                        <a:latin typeface="Times New Roman"/>
                        <a:ea typeface="Times New Roman"/>
                        <a:cs typeface="Times New Roman"/>
                        <a:sym typeface="Times New Roman"/>
                      </a:endParaRPr>
                    </a:p>
                  </a:txBody>
                  <a:tcPr marT="91425" marB="91425" marR="91425" marL="91425"/>
                </a:tc>
              </a:tr>
              <a:tr h="1022025">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Number of charge and discharge cycles</a:t>
                      </a:r>
                      <a:endParaRPr sz="2200">
                        <a:solidFill>
                          <a:schemeClr val="lt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The cycles can be obtained once the voltage and current are determined. The cycle differs from one type to another type of battery.</a:t>
                      </a:r>
                      <a:endParaRPr sz="2200">
                        <a:solidFill>
                          <a:schemeClr val="lt1"/>
                        </a:solidFill>
                        <a:latin typeface="Times New Roman"/>
                        <a:ea typeface="Times New Roman"/>
                        <a:cs typeface="Times New Roman"/>
                        <a:sym typeface="Times New Roman"/>
                      </a:endParaRPr>
                    </a:p>
                  </a:txBody>
                  <a:tcPr marT="91425" marB="91425" marR="91425" marL="91425"/>
                </a:tc>
              </a:tr>
              <a:tr h="734000">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Temperature</a:t>
                      </a:r>
                      <a:endParaRPr sz="2200">
                        <a:solidFill>
                          <a:schemeClr val="lt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The values of temperature can be obtained from the temperature sensor embedded.</a:t>
                      </a:r>
                      <a:endParaRPr sz="2200">
                        <a:solidFill>
                          <a:schemeClr val="lt1"/>
                        </a:solidFill>
                        <a:latin typeface="Times New Roman"/>
                        <a:ea typeface="Times New Roman"/>
                        <a:cs typeface="Times New Roman"/>
                        <a:sym typeface="Times New Roman"/>
                      </a:endParaRPr>
                    </a:p>
                  </a:txBody>
                  <a:tcPr marT="91425" marB="91425" marR="91425" marL="91425"/>
                </a:tc>
              </a:tr>
              <a:tr h="734000">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Miles travelled</a:t>
                      </a:r>
                      <a:endParaRPr sz="2200">
                        <a:solidFill>
                          <a:schemeClr val="lt1"/>
                        </a:solidFill>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 sz="2200">
                          <a:solidFill>
                            <a:schemeClr val="lt1"/>
                          </a:solidFill>
                          <a:latin typeface="Times New Roman"/>
                          <a:ea typeface="Times New Roman"/>
                          <a:cs typeface="Times New Roman"/>
                          <a:sym typeface="Times New Roman"/>
                        </a:rPr>
                        <a:t>Similar to the temperature, number of miles can be obtained from the sensors embedded.</a:t>
                      </a:r>
                      <a:endParaRPr sz="2200">
                        <a:solidFill>
                          <a:schemeClr val="lt1"/>
                        </a:solidFill>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 name="Shape 89"/>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93" name="Shape 93"/>
        <p:cNvGrpSpPr/>
        <p:nvPr/>
      </p:nvGrpSpPr>
      <p:grpSpPr>
        <a:xfrm>
          <a:off x="0" y="0"/>
          <a:ext cx="0" cy="0"/>
          <a:chOff x="0" y="0"/>
          <a:chExt cx="0" cy="0"/>
        </a:xfrm>
      </p:grpSpPr>
      <p:sp>
        <p:nvSpPr>
          <p:cNvPr id="94" name="Google Shape;94;p19"/>
          <p:cNvSpPr txBox="1"/>
          <p:nvPr>
            <p:ph type="title"/>
          </p:nvPr>
        </p:nvSpPr>
        <p:spPr>
          <a:xfrm>
            <a:off x="311700" y="2285400"/>
            <a:ext cx="8520600" cy="572700"/>
          </a:xfrm>
          <a:prstGeom prst="rect">
            <a:avLst/>
          </a:prstGeom>
        </p:spPr>
        <p:txBody>
          <a:bodyPr anchorCtr="0" anchor="t" bIns="91425" lIns="91425" spcFirstLastPara="1" rIns="91425" wrap="square" tIns="91425">
            <a:noAutofit/>
          </a:bodyPr>
          <a:lstStyle/>
          <a:p>
            <a:pPr indent="457200" lvl="0" marL="2743200" rtl="0" algn="l">
              <a:spcBef>
                <a:spcPts val="0"/>
              </a:spcBef>
              <a:spcAft>
                <a:spcPts val="0"/>
              </a:spcAft>
              <a:buNone/>
            </a:pPr>
            <a:r>
              <a:rPr b="1" lang="en">
                <a:solidFill>
                  <a:schemeClr val="lt1"/>
                </a:solidFill>
                <a:latin typeface="Times New Roman"/>
                <a:ea typeface="Times New Roman"/>
                <a:cs typeface="Times New Roman"/>
                <a:sym typeface="Times New Roman"/>
              </a:rPr>
              <a:t>THANK YOU</a:t>
            </a:r>
            <a:endParaRPr b="1">
              <a:solidFill>
                <a:schemeClr val="lt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